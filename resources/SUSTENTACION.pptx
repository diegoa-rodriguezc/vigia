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159" autoAdjust="0"/>
  </p:normalViewPr>
  <p:slideViewPr>
    <p:cSldViewPr snapToGrid="0" snapToObjects="1">
      <p:cViewPr varScale="1">
        <p:scale>
          <a:sx n="143" d="100"/>
          <a:sy n="143" d="100"/>
        </p:scale>
        <p:origin x="852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316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O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egoa-rodriguezc/vigia/blob/main/docs/vigia-demo.mp4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Oval 2"/>
          <p:cNvSpPr/>
          <p:nvPr/>
        </p:nvSpPr>
        <p:spPr>
          <a:xfrm>
            <a:off x="8686800" y="2103120"/>
            <a:ext cx="2011680" cy="2011680"/>
          </a:xfrm>
          <a:prstGeom prst="ellipse">
            <a:avLst/>
          </a:prstGeom>
          <a:noFill/>
          <a:ln w="1524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Oval 3"/>
          <p:cNvSpPr/>
          <p:nvPr/>
        </p:nvSpPr>
        <p:spPr>
          <a:xfrm>
            <a:off x="7863840" y="1280160"/>
            <a:ext cx="3657600" cy="3657600"/>
          </a:xfrm>
          <a:prstGeom prst="ellipse">
            <a:avLst/>
          </a:prstGeom>
          <a:noFill/>
          <a:ln w="11429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Oval 4"/>
          <p:cNvSpPr/>
          <p:nvPr/>
        </p:nvSpPr>
        <p:spPr>
          <a:xfrm>
            <a:off x="7040880" y="457200"/>
            <a:ext cx="5303520" cy="5303520"/>
          </a:xfrm>
          <a:prstGeom prst="ellipse">
            <a:avLst/>
          </a:prstGeom>
          <a:noFill/>
          <a:ln w="762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Oval 5"/>
          <p:cNvSpPr/>
          <p:nvPr/>
        </p:nvSpPr>
        <p:spPr>
          <a:xfrm>
            <a:off x="9637776" y="3054096"/>
            <a:ext cx="109728" cy="10972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6600" b="1" i="0" noProof="0" dirty="0">
                <a:solidFill>
                  <a:srgbClr val="E8EEFC"/>
                </a:solidFill>
                <a:latin typeface="Segoe UI"/>
              </a:rPr>
              <a:t>Vig</a:t>
            </a:r>
            <a:r>
              <a:rPr lang="es-CO" sz="6600" b="1" i="0" noProof="0" dirty="0">
                <a:solidFill>
                  <a:srgbClr val="7CC4FF"/>
                </a:solidFill>
                <a:latin typeface="Segoe UI"/>
              </a:rPr>
              <a:t>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74980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CO" sz="2000" b="0" i="0" noProof="0" dirty="0">
                <a:solidFill>
                  <a:srgbClr val="93A6C4"/>
                </a:solidFill>
                <a:latin typeface="Segoe UI"/>
              </a:rPr>
              <a:t>Inteligencia artificial para la seguridad ciudadana y la justicia en Colombia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400" b="0" i="0" noProof="0" dirty="0">
                <a:solidFill>
                  <a:srgbClr val="5E7191"/>
                </a:solidFill>
                <a:latin typeface="Segoe UI"/>
              </a:rPr>
              <a:t>Datos abiertos → </a:t>
            </a:r>
            <a:r>
              <a:rPr lang="es-CO" sz="1400" b="1" i="0" noProof="0" dirty="0">
                <a:solidFill>
                  <a:srgbClr val="7CC4FF"/>
                </a:solidFill>
                <a:latin typeface="Segoe UI"/>
              </a:rPr>
              <a:t>dónde actuar · qué esperar · cómo responder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41648"/>
            <a:ext cx="3108960" cy="47548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77824" y="4114800"/>
            <a:ext cx="283464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050" b="0" i="0" noProof="0" dirty="0">
                <a:solidFill>
                  <a:srgbClr val="5E7191"/>
                </a:solidFill>
                <a:latin typeface="Segoe UI"/>
              </a:rPr>
              <a:t>Reto:  </a:t>
            </a:r>
            <a:r>
              <a:rPr lang="es-CO" sz="1050" b="1" i="0" noProof="0" dirty="0">
                <a:solidFill>
                  <a:srgbClr val="E8EEFC"/>
                </a:solidFill>
                <a:latin typeface="Segoe UI"/>
              </a:rPr>
              <a:t>Seguridad Ciudadana y Justicia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5072" y="4041648"/>
            <a:ext cx="2331720" cy="47548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151376" y="4114800"/>
            <a:ext cx="20574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050" b="0" i="0" noProof="0" dirty="0">
                <a:solidFill>
                  <a:srgbClr val="5E7191"/>
                </a:solidFill>
                <a:latin typeface="Segoe UI"/>
              </a:rPr>
              <a:t>Nivel:  </a:t>
            </a:r>
            <a:r>
              <a:rPr lang="es-CO" sz="1050" b="1" i="0" noProof="0" dirty="0">
                <a:solidFill>
                  <a:srgbClr val="E8EEFC"/>
                </a:solidFill>
                <a:latin typeface="Segoe UI"/>
              </a:rPr>
              <a:t>Avanzado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01384" y="4041648"/>
            <a:ext cx="2331720" cy="47548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647688" y="4114800"/>
            <a:ext cx="20574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050" b="0" i="0" noProof="0" dirty="0">
                <a:solidFill>
                  <a:srgbClr val="5E7191"/>
                </a:solidFill>
                <a:latin typeface="Segoe UI"/>
              </a:rPr>
              <a:t>ID del equipo:  </a:t>
            </a:r>
            <a:r>
              <a:rPr lang="es-CO" sz="1050" b="1" i="0" noProof="0" dirty="0">
                <a:solidFill>
                  <a:srgbClr val="E8EEFC"/>
                </a:solidFill>
                <a:latin typeface="Segoe UI"/>
              </a:rPr>
              <a:t>296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892040"/>
            <a:ext cx="2670048" cy="86868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877824" y="500176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E8EEFC"/>
                </a:solidFill>
                <a:latin typeface="Segoe UI"/>
              </a:rPr>
              <a:t>Jeraldine Mora Lavado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545896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00" b="0" i="0" noProof="0" dirty="0">
                <a:solidFill>
                  <a:srgbClr val="93A6C4"/>
                </a:solidFill>
                <a:latin typeface="Segoe UI"/>
              </a:rPr>
              <a:t>Ciencia de datos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47872" y="4892040"/>
            <a:ext cx="2670048" cy="86868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3694176" y="500176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E8EEFC"/>
                </a:solidFill>
                <a:latin typeface="Segoe UI"/>
              </a:rPr>
              <a:t>Jorge Esneider Henao González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94176" y="545896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00" b="0" i="0" noProof="0" dirty="0">
                <a:solidFill>
                  <a:srgbClr val="93A6C4"/>
                </a:solidFill>
                <a:latin typeface="Segoe UI"/>
              </a:rPr>
              <a:t>Desarrollo / Backend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64224" y="4892040"/>
            <a:ext cx="2670048" cy="86868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510528" y="500176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E8EEFC"/>
                </a:solidFill>
                <a:latin typeface="Segoe UI"/>
              </a:rPr>
              <a:t>Héctor Leandro Rojas Serrano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545896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00" b="0" i="0" noProof="0" dirty="0">
                <a:solidFill>
                  <a:srgbClr val="93A6C4"/>
                </a:solidFill>
                <a:latin typeface="Segoe UI"/>
              </a:rPr>
              <a:t>Análisis de datos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0576" y="4892040"/>
            <a:ext cx="2670048" cy="86868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9326880" y="5001768"/>
            <a:ext cx="239572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E8EEFC"/>
                </a:solidFill>
                <a:latin typeface="Segoe UI"/>
              </a:rPr>
              <a:t>Diego Alberto Rodríguez Cruz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458968"/>
            <a:ext cx="239572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00" b="0" i="0" noProof="0" dirty="0">
                <a:solidFill>
                  <a:srgbClr val="93A6C4"/>
                </a:solidFill>
                <a:latin typeface="Segoe UI"/>
              </a:rPr>
              <a:t>Líder · Arquitectura ·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7CC4FF"/>
                </a:solidFill>
                <a:latin typeface="Segoe UI"/>
              </a:rPr>
              <a:t>01 / 08</a:t>
            </a:r>
            <a:r>
              <a:rPr lang="es-CO" sz="1100" b="0" i="0" noProof="0" dirty="0">
                <a:solidFill>
                  <a:srgbClr val="5E7191"/>
                </a:solidFill>
                <a:latin typeface="Segoe UI"/>
              </a:rPr>
              <a:t>   ·   PORTADA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00" b="0" i="0" noProof="0" dirty="0">
                <a:solidFill>
                  <a:srgbClr val="5E7191"/>
                </a:solidFill>
                <a:latin typeface="Segoe UI"/>
              </a:rPr>
              <a:t>VigIA · Concurso Datos al Ecosistema 2026 · Reto Seguridad Ciudadana y Justicia · Nivel Avanzado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700" b="1" i="0" noProof="0" dirty="0">
                <a:solidFill>
                  <a:srgbClr val="E8EEFC"/>
                </a:solidFill>
                <a:latin typeface="Segoe UI"/>
              </a:rPr>
              <a:t>El dato existe; la decisión no lo 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300" b="0" i="0" noProof="0" dirty="0">
                <a:solidFill>
                  <a:srgbClr val="93A6C4"/>
                </a:solidFill>
                <a:latin typeface="Segoe UI"/>
              </a:rPr>
              <a:t>Problema y objetivo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602736" cy="148132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676656" y="173736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41248" y="1700784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400" b="1" i="0" noProof="0" dirty="0">
                <a:solidFill>
                  <a:srgbClr val="E8EEFC"/>
                </a:solidFill>
                <a:latin typeface="Segoe UI"/>
              </a:rPr>
              <a:t>Disperso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029968"/>
            <a:ext cx="319125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100" b="0" i="0" noProof="0" dirty="0">
                <a:solidFill>
                  <a:srgbClr val="93A6C4"/>
                </a:solidFill>
                <a:latin typeface="Segoe UI"/>
              </a:rPr>
              <a:t>Los registros delictivos viven en más de 20 conjuntos con dos esquemas y dos formatos de fecha distintos. Integrarlos no es trivial.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3108" y="1600200"/>
            <a:ext cx="3602736" cy="148132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4421124" y="173736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585716" y="1700784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400" b="1" i="0" noProof="0" dirty="0">
                <a:solidFill>
                  <a:srgbClr val="E8EEFC"/>
                </a:solidFill>
                <a:latin typeface="Segoe UI"/>
              </a:rPr>
              <a:t>Rezagado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5716" y="2029968"/>
            <a:ext cx="319125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100" b="0" i="0" noProof="0" dirty="0">
                <a:solidFill>
                  <a:srgbClr val="93A6C4"/>
                </a:solidFill>
                <a:latin typeface="Segoe UI"/>
              </a:rPr>
              <a:t>El dato oficial es mensual y llega con meses de retraso; la coyuntura se lee por prensa, sin conexión con la cifra.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7576" y="1600200"/>
            <a:ext cx="3602736" cy="148132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8165592" y="173736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330184" y="1700784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400" b="1" i="0" noProof="0" dirty="0">
                <a:solidFill>
                  <a:srgbClr val="E8EEFC"/>
                </a:solidFill>
                <a:latin typeface="Segoe UI"/>
              </a:rPr>
              <a:t>Desconectado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029968"/>
            <a:ext cx="3191256" cy="950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100" b="0" i="0" noProof="0" dirty="0">
                <a:solidFill>
                  <a:srgbClr val="93A6C4"/>
                </a:solidFill>
                <a:latin typeface="Segoe UI"/>
              </a:rPr>
              <a:t>La Policía registra hechos; la Fiscalía, procesos. Nadie los mira juntos: ¿cuánto de lo que ocurre se judicializa?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310128"/>
            <a:ext cx="3602736" cy="123444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676656" y="3456432"/>
            <a:ext cx="45720" cy="941832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841248" y="3419856"/>
            <a:ext cx="31912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500" b="1" i="0" noProof="0" dirty="0">
                <a:solidFill>
                  <a:srgbClr val="E8EEFC"/>
                </a:solidFill>
                <a:latin typeface="Segoe UI"/>
              </a:rPr>
              <a:t>13 millones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877056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1" i="0" noProof="0" dirty="0">
                <a:solidFill>
                  <a:srgbClr val="93A6C4"/>
                </a:solidFill>
                <a:latin typeface="Segoe UI"/>
              </a:rPr>
              <a:t>HECHOS REGISTRADOS (POLICÍA)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133088"/>
            <a:ext cx="31912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0" i="0" noProof="0" dirty="0">
                <a:solidFill>
                  <a:srgbClr val="5E7191"/>
                </a:solidFill>
                <a:latin typeface="Segoe UI"/>
              </a:rPr>
              <a:t>2003–2026 · 17 tipos de delito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3108" y="3310128"/>
            <a:ext cx="3602736" cy="123444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Rounded Rectangle 22"/>
          <p:cNvSpPr/>
          <p:nvPr/>
        </p:nvSpPr>
        <p:spPr>
          <a:xfrm>
            <a:off x="4421124" y="3456432"/>
            <a:ext cx="45720" cy="941832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4585716" y="3419856"/>
            <a:ext cx="31912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500" b="1" i="0" noProof="0" dirty="0">
                <a:solidFill>
                  <a:srgbClr val="E8EEFC"/>
                </a:solidFill>
                <a:latin typeface="Segoe UI"/>
              </a:rPr>
              <a:t>23 millones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5716" y="3877056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1" i="0" noProof="0" dirty="0">
                <a:solidFill>
                  <a:srgbClr val="93A6C4"/>
                </a:solidFill>
                <a:latin typeface="Segoe UI"/>
              </a:rPr>
              <a:t>PROCESOS (FISCALÍA)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5716" y="4133088"/>
            <a:ext cx="31912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0" i="0" noProof="0" dirty="0">
                <a:solidFill>
                  <a:srgbClr val="5E7191"/>
                </a:solidFill>
                <a:latin typeface="Segoe UI"/>
              </a:rPr>
              <a:t>el embudo de judicialización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7576" y="3310128"/>
            <a:ext cx="3602736" cy="123444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8" name="Rounded Rectangle 27"/>
          <p:cNvSpPr/>
          <p:nvPr/>
        </p:nvSpPr>
        <p:spPr>
          <a:xfrm>
            <a:off x="8165592" y="3456432"/>
            <a:ext cx="45720" cy="941832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8330184" y="3419856"/>
            <a:ext cx="31912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500" b="1" i="0" noProof="0" dirty="0">
                <a:solidFill>
                  <a:srgbClr val="E8EEFC"/>
                </a:solidFill>
                <a:latin typeface="Segoe UI"/>
              </a:rPr>
              <a:t>1.126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3877056"/>
            <a:ext cx="3191256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1" i="0" noProof="0" dirty="0">
                <a:solidFill>
                  <a:srgbClr val="93A6C4"/>
                </a:solidFill>
                <a:latin typeface="Segoe UI"/>
              </a:rPr>
              <a:t>MUNICIPIOS CUBIERTOS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4133088"/>
            <a:ext cx="3191256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0" i="0" noProof="0" dirty="0">
                <a:solidFill>
                  <a:srgbClr val="5E7191"/>
                </a:solidFill>
                <a:latin typeface="Segoe UI"/>
              </a:rPr>
              <a:t>en los 33 departamentos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773168"/>
            <a:ext cx="11091672" cy="1234440"/>
          </a:xfrm>
          <a:prstGeom prst="roundRect">
            <a:avLst>
              <a:gd name="adj" fmla="val 5500"/>
            </a:avLst>
          </a:prstGeom>
          <a:solidFill>
            <a:srgbClr val="0F1A2E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777240" y="4956048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7CC4FF"/>
                </a:solidFill>
                <a:latin typeface="Segoe UI"/>
              </a:rPr>
              <a:t>OBJETIVO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248656"/>
            <a:ext cx="10607040" cy="4629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lang="es-CO" sz="1400" b="0" i="0" noProof="0" dirty="0">
                <a:solidFill>
                  <a:srgbClr val="E8EEFC"/>
                </a:solidFill>
                <a:latin typeface="Segoe UI"/>
              </a:rPr>
              <a:t>Convertir esos datos abiertos en decisiones preventivas locales: alertas de cambios inusuales, pronóstico por municipio y delito, y respuestas con evidencia - en una plataforma pública, auditable y reproducible.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7CC4FF"/>
                </a:solidFill>
                <a:latin typeface="Segoe UI"/>
              </a:rPr>
              <a:t>02 / 08</a:t>
            </a:r>
            <a:r>
              <a:rPr lang="es-CO" sz="1100" b="0" i="0" noProof="0" dirty="0">
                <a:solidFill>
                  <a:srgbClr val="5E7191"/>
                </a:solidFill>
                <a:latin typeface="Segoe UI"/>
              </a:rPr>
              <a:t>   ·   PROBLEMA Y OBJETIVO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00" b="0" i="0" noProof="0" dirty="0">
                <a:solidFill>
                  <a:srgbClr val="5E7191"/>
                </a:solidFill>
                <a:latin typeface="Segoe UI"/>
              </a:rPr>
              <a:t>VigIA · Concurso Datos al Ecosistema 2026 · Reto Seguridad Ciudadana y Justicia · Nivel Avanzado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700" b="1" i="0" noProof="0" dirty="0">
                <a:solidFill>
                  <a:srgbClr val="E8EEFC"/>
                </a:solidFill>
                <a:latin typeface="Segoe UI"/>
              </a:rPr>
              <a:t>20 conjuntos de datos abiertos, un modelo de evento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300" b="0" i="0" noProof="0" dirty="0">
                <a:solidFill>
                  <a:srgbClr val="93A6C4"/>
                </a:solidFill>
                <a:latin typeface="Segoe UI"/>
              </a:rPr>
              <a:t>Fuentes, variables y tratamiento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5486400" cy="1170432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676656" y="169164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841248" y="1655064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Policía 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84248"/>
            <a:ext cx="5074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16 conjuntos delictivos y operativos + 2 administrativos (auditorías y demandas) · datos.gov.co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6" y="1554480"/>
            <a:ext cx="5486400" cy="1170432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6291072" y="169164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55664" y="1655064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Fiscalía General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1984248"/>
            <a:ext cx="5074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23 millones de procesos penales, adquiridos con descarga paginada reproducible · datos.gov.co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852928"/>
            <a:ext cx="5486400" cy="1170432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676656" y="2990088"/>
            <a:ext cx="45720" cy="237744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41248" y="2953512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DANE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282696"/>
            <a:ext cx="5074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 err="1">
                <a:solidFill>
                  <a:srgbClr val="93A6C4"/>
                </a:solidFill>
                <a:latin typeface="Segoe UI"/>
              </a:rPr>
              <a:t>DIVIPOLA</a:t>
            </a: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 (nombres y coordenadas oficiales) + población municipal 2005–2035 para tasas por cada 100.000 habitantes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2852928"/>
            <a:ext cx="5486400" cy="1170432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6291072" y="2990088"/>
            <a:ext cx="45720" cy="237744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55664" y="2953512"/>
            <a:ext cx="5074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No estructurados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282696"/>
            <a:ext cx="5074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Política pública en PDF dentro de la base de conocimiento del asistente + prensa como señal de contexto</a:t>
            </a:r>
          </a:p>
        </p:txBody>
      </p:sp>
      <p:sp>
        <p:nvSpPr>
          <p:cNvPr id="21" name="Chevron 20"/>
          <p:cNvSpPr/>
          <p:nvPr/>
        </p:nvSpPr>
        <p:spPr>
          <a:xfrm>
            <a:off x="548640" y="4224528"/>
            <a:ext cx="2212848" cy="713232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>
                <a:solidFill>
                  <a:srgbClr val="E8EEFC"/>
                </a:solidFill>
                <a:latin typeface="Segoe UI"/>
              </a:rPr>
              <a:t>Descarga</a:t>
            </a:r>
          </a:p>
          <a:p>
            <a:pPr algn="ctr"/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API datos.gov.co</a:t>
            </a:r>
          </a:p>
        </p:txBody>
      </p:sp>
      <p:sp>
        <p:nvSpPr>
          <p:cNvPr id="22" name="Chevron 21"/>
          <p:cNvSpPr/>
          <p:nvPr/>
        </p:nvSpPr>
        <p:spPr>
          <a:xfrm>
            <a:off x="2779776" y="4224528"/>
            <a:ext cx="2212848" cy="713232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>
                <a:solidFill>
                  <a:srgbClr val="E8EEFC"/>
                </a:solidFill>
                <a:latin typeface="Segoe UI"/>
              </a:rPr>
              <a:t>Bronze</a:t>
            </a:r>
          </a:p>
          <a:p>
            <a:pPr algn="ctr"/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crudo + linaje</a:t>
            </a:r>
          </a:p>
        </p:txBody>
      </p:sp>
      <p:sp>
        <p:nvSpPr>
          <p:cNvPr id="23" name="Chevron 22"/>
          <p:cNvSpPr/>
          <p:nvPr/>
        </p:nvSpPr>
        <p:spPr>
          <a:xfrm>
            <a:off x="5010912" y="4224528"/>
            <a:ext cx="2212848" cy="713232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>
                <a:solidFill>
                  <a:srgbClr val="E8EEFC"/>
                </a:solidFill>
                <a:latin typeface="Segoe UI"/>
              </a:rPr>
              <a:t>Silver</a:t>
            </a:r>
          </a:p>
          <a:p>
            <a:pPr algn="ctr"/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2 esquemas → 1 evento</a:t>
            </a:r>
          </a:p>
        </p:txBody>
      </p:sp>
      <p:sp>
        <p:nvSpPr>
          <p:cNvPr id="24" name="Chevron 23"/>
          <p:cNvSpPr/>
          <p:nvPr/>
        </p:nvSpPr>
        <p:spPr>
          <a:xfrm>
            <a:off x="7242048" y="4224528"/>
            <a:ext cx="2212848" cy="713232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>
                <a:solidFill>
                  <a:srgbClr val="E8EEFC"/>
                </a:solidFill>
                <a:latin typeface="Segoe UI"/>
              </a:rPr>
              <a:t>Gold</a:t>
            </a:r>
          </a:p>
          <a:p>
            <a:pPr algn="ctr"/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series y tasas</a:t>
            </a:r>
          </a:p>
        </p:txBody>
      </p:sp>
      <p:sp>
        <p:nvSpPr>
          <p:cNvPr id="25" name="Chevron 24"/>
          <p:cNvSpPr/>
          <p:nvPr/>
        </p:nvSpPr>
        <p:spPr>
          <a:xfrm>
            <a:off x="9473184" y="4224528"/>
            <a:ext cx="2212848" cy="713232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>
                <a:solidFill>
                  <a:srgbClr val="E8EEFC"/>
                </a:solidFill>
                <a:latin typeface="Segoe UI"/>
              </a:rPr>
              <a:t>IA</a:t>
            </a:r>
          </a:p>
          <a:p>
            <a:pPr algn="ctr"/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modelo + índice RAG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75504"/>
            <a:ext cx="11091672" cy="932688"/>
          </a:xfrm>
          <a:prstGeom prst="roundRect">
            <a:avLst>
              <a:gd name="adj" fmla="val 5500"/>
            </a:avLst>
          </a:prstGeom>
          <a:solidFill>
            <a:srgbClr val="0F1A2E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777240" y="5303520"/>
            <a:ext cx="10698480" cy="568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CO" sz="1150" b="1" i="0" noProof="0" dirty="0">
                <a:solidFill>
                  <a:srgbClr val="6FCF97"/>
                </a:solidFill>
                <a:latin typeface="Segoe UI"/>
              </a:rPr>
              <a:t>Calidad auditable: </a:t>
            </a:r>
            <a:r>
              <a:rPr lang="es-CO" sz="1150" b="0" i="0" noProof="0" dirty="0">
                <a:solidFill>
                  <a:srgbClr val="93A6C4"/>
                </a:solidFill>
                <a:latin typeface="Segoe UI"/>
              </a:rPr>
              <a:t>cada etapa deja reporte versionado; la conciliación </a:t>
            </a:r>
            <a:r>
              <a:rPr lang="es-CO" sz="1150" b="0" i="0" noProof="0" dirty="0" err="1">
                <a:solidFill>
                  <a:srgbClr val="93A6C4"/>
                </a:solidFill>
                <a:latin typeface="Segoe UI"/>
              </a:rPr>
              <a:t>origen→final</a:t>
            </a:r>
            <a:r>
              <a:rPr lang="es-CO" sz="1150" b="0" i="0" noProof="0" dirty="0">
                <a:solidFill>
                  <a:srgbClr val="93A6C4"/>
                </a:solidFill>
                <a:latin typeface="Segoe UI"/>
              </a:rPr>
              <a:t> cuadra con diferencia cero frente al conteo oficial de la Fiscalía. 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lang="es-CO" sz="1150" b="1" i="0" noProof="0" dirty="0">
                <a:solidFill>
                  <a:srgbClr val="F2C94C"/>
                </a:solidFill>
                <a:latin typeface="Segoe UI"/>
              </a:rPr>
              <a:t>Hallazgo del proceso: </a:t>
            </a:r>
            <a:r>
              <a:rPr lang="es-CO" sz="1150" b="0" i="0" noProof="0" dirty="0">
                <a:solidFill>
                  <a:srgbClr val="93A6C4"/>
                </a:solidFill>
                <a:latin typeface="Segoe UI"/>
              </a:rPr>
              <a:t>un borrado de filas repetidas ocultaba el 30 % de los hechos; se detectó, se midió y se corrigió - el dato final cuadra con la cifra oficial de homicidios.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7CC4FF"/>
                </a:solidFill>
                <a:latin typeface="Segoe UI"/>
              </a:rPr>
              <a:t>03 / 08</a:t>
            </a:r>
            <a:r>
              <a:rPr lang="es-CO" sz="1100" b="0" i="0" noProof="0" dirty="0">
                <a:solidFill>
                  <a:srgbClr val="5E7191"/>
                </a:solidFill>
                <a:latin typeface="Segoe UI"/>
              </a:rPr>
              <a:t>   ·   DATOS ABIERTOS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00" b="0" i="0" noProof="0" dirty="0">
                <a:solidFill>
                  <a:srgbClr val="5E7191"/>
                </a:solidFill>
                <a:latin typeface="Segoe UI"/>
              </a:rPr>
              <a:t>VigIA · Concurso Datos al Ecosistema 2026 · Reto Seguridad Ciudadana y Justicia · Nivel Avanzado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700" b="1" i="0" noProof="0" dirty="0">
                <a:solidFill>
                  <a:srgbClr val="E8EEFC"/>
                </a:solidFill>
                <a:latin typeface="Segoe UI"/>
              </a:rPr>
              <a:t>Una plataforma completa; seis componentes de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300" b="0" i="0" noProof="0" dirty="0">
                <a:solidFill>
                  <a:srgbClr val="93A6C4"/>
                </a:solidFill>
                <a:latin typeface="Segoe UI"/>
              </a:rPr>
              <a:t>Solución e inteligencia artificial</a:t>
            </a:r>
          </a:p>
        </p:txBody>
      </p:sp>
      <p:sp>
        <p:nvSpPr>
          <p:cNvPr id="5" name="Chevron 4"/>
          <p:cNvSpPr/>
          <p:nvPr/>
        </p:nvSpPr>
        <p:spPr>
          <a:xfrm>
            <a:off x="548640" y="1517904"/>
            <a:ext cx="2212848" cy="658368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 err="1">
                <a:solidFill>
                  <a:srgbClr val="E8EEFC"/>
                </a:solidFill>
                <a:latin typeface="Segoe UI"/>
              </a:rPr>
              <a:t>React</a:t>
            </a:r>
            <a:endParaRPr lang="es-CO" sz="1150" b="1" noProof="0" dirty="0">
              <a:solidFill>
                <a:srgbClr val="E8EEFC"/>
              </a:solidFill>
              <a:latin typeface="Segoe UI"/>
            </a:endParaRPr>
          </a:p>
          <a:p>
            <a:pPr algn="ctr"/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tablero público</a:t>
            </a:r>
          </a:p>
        </p:txBody>
      </p:sp>
      <p:sp>
        <p:nvSpPr>
          <p:cNvPr id="6" name="Chevron 5"/>
          <p:cNvSpPr/>
          <p:nvPr/>
        </p:nvSpPr>
        <p:spPr>
          <a:xfrm>
            <a:off x="2779776" y="1517904"/>
            <a:ext cx="2212848" cy="658368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 err="1">
                <a:solidFill>
                  <a:srgbClr val="E8EEFC"/>
                </a:solidFill>
                <a:latin typeface="Segoe UI"/>
              </a:rPr>
              <a:t>Go</a:t>
            </a:r>
            <a:endParaRPr lang="es-CO" sz="1150" b="1" noProof="0" dirty="0">
              <a:solidFill>
                <a:srgbClr val="E8EEFC"/>
              </a:solidFill>
              <a:latin typeface="Segoe UI"/>
            </a:endParaRPr>
          </a:p>
          <a:p>
            <a:pPr algn="ctr"/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API + seguridad</a:t>
            </a:r>
          </a:p>
        </p:txBody>
      </p:sp>
      <p:sp>
        <p:nvSpPr>
          <p:cNvPr id="7" name="Chevron 6"/>
          <p:cNvSpPr/>
          <p:nvPr/>
        </p:nvSpPr>
        <p:spPr>
          <a:xfrm>
            <a:off x="5010912" y="1517904"/>
            <a:ext cx="2212848" cy="658368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>
                <a:solidFill>
                  <a:srgbClr val="E8EEFC"/>
                </a:solidFill>
                <a:latin typeface="Segoe UI"/>
              </a:rPr>
              <a:t>Python</a:t>
            </a:r>
          </a:p>
          <a:p>
            <a:pPr algn="ctr"/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ETL + ML + RAG</a:t>
            </a:r>
          </a:p>
        </p:txBody>
      </p:sp>
      <p:sp>
        <p:nvSpPr>
          <p:cNvPr id="8" name="Chevron 7"/>
          <p:cNvSpPr/>
          <p:nvPr/>
        </p:nvSpPr>
        <p:spPr>
          <a:xfrm>
            <a:off x="7242048" y="1517904"/>
            <a:ext cx="2212848" cy="658368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>
                <a:solidFill>
                  <a:srgbClr val="E8EEFC"/>
                </a:solidFill>
                <a:latin typeface="Segoe UI"/>
              </a:rPr>
              <a:t>PostgreSQL</a:t>
            </a:r>
          </a:p>
          <a:p>
            <a:pPr algn="ctr"/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datos + vectores</a:t>
            </a:r>
          </a:p>
        </p:txBody>
      </p:sp>
      <p:sp>
        <p:nvSpPr>
          <p:cNvPr id="9" name="Chevron 8"/>
          <p:cNvSpPr/>
          <p:nvPr/>
        </p:nvSpPr>
        <p:spPr>
          <a:xfrm>
            <a:off x="9473184" y="1517904"/>
            <a:ext cx="2212848" cy="658368"/>
          </a:xfrm>
          <a:prstGeom prst="chevron">
            <a:avLst>
              <a:gd name="adj" fmla="val 28000"/>
            </a:avLst>
          </a:prstGeom>
          <a:solidFill>
            <a:srgbClr val="121D31"/>
          </a:solidFill>
          <a:ln w="13970">
            <a:solidFill>
              <a:srgbClr val="7CC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45720" rtlCol="0" anchor="ctr"/>
          <a:lstStyle/>
          <a:p>
            <a:pPr algn="ctr"/>
            <a:r>
              <a:rPr lang="es-CO" sz="1150" b="1" noProof="0" dirty="0">
                <a:solidFill>
                  <a:srgbClr val="E8EEFC"/>
                </a:solidFill>
                <a:latin typeface="Segoe UI"/>
              </a:rPr>
              <a:t>Ollama / API</a:t>
            </a:r>
          </a:p>
          <a:p>
            <a:pPr algn="ctr"/>
            <a:r>
              <a:rPr lang="es-CO" sz="850" noProof="0" dirty="0" err="1">
                <a:solidFill>
                  <a:srgbClr val="93A6C4"/>
                </a:solidFill>
                <a:latin typeface="Segoe UI"/>
              </a:rPr>
              <a:t>LLM</a:t>
            </a:r>
            <a:r>
              <a:rPr lang="es-CO" sz="850" noProof="0" dirty="0">
                <a:solidFill>
                  <a:srgbClr val="93A6C4"/>
                </a:solidFill>
                <a:latin typeface="Segoe UI"/>
              </a:rPr>
              <a:t> local o gestionado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31136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5E7191"/>
                </a:solidFill>
                <a:latin typeface="Segoe UI"/>
              </a:rPr>
              <a:t>Docker </a:t>
            </a:r>
            <a:r>
              <a:rPr lang="es-CO" sz="1000" b="0" i="0" noProof="0" dirty="0" err="1">
                <a:solidFill>
                  <a:srgbClr val="5E7191"/>
                </a:solidFill>
                <a:latin typeface="Segoe UI"/>
              </a:rPr>
              <a:t>Compose</a:t>
            </a:r>
            <a:r>
              <a:rPr lang="es-CO" sz="1000" b="0" i="0" noProof="0" dirty="0">
                <a:solidFill>
                  <a:srgbClr val="5E7191"/>
                </a:solidFill>
                <a:latin typeface="Segoe UI"/>
              </a:rPr>
              <a:t> · despliegue con un comando (</a:t>
            </a:r>
            <a:r>
              <a:rPr lang="es-CO" sz="1000" b="0" i="0" noProof="0" dirty="0" err="1">
                <a:solidFill>
                  <a:srgbClr val="5E7191"/>
                </a:solidFill>
                <a:latin typeface="Segoe UI"/>
              </a:rPr>
              <a:t>make</a:t>
            </a:r>
            <a:r>
              <a:rPr lang="es-CO" sz="1000" b="0" i="0" noProof="0" dirty="0">
                <a:solidFill>
                  <a:srgbClr val="5E7191"/>
                </a:solidFill>
                <a:latin typeface="Segoe UI"/>
              </a:rPr>
              <a:t> </a:t>
            </a:r>
            <a:r>
              <a:rPr lang="es-CO" sz="1000" b="0" i="0" noProof="0" dirty="0" err="1">
                <a:solidFill>
                  <a:srgbClr val="5E7191"/>
                </a:solidFill>
                <a:latin typeface="Segoe UI"/>
              </a:rPr>
              <a:t>deploy</a:t>
            </a:r>
            <a:r>
              <a:rPr lang="es-CO" sz="1000" b="0" i="0" noProof="0" dirty="0">
                <a:solidFill>
                  <a:srgbClr val="5E7191"/>
                </a:solidFill>
                <a:latin typeface="Segoe UI"/>
              </a:rPr>
              <a:t>) · sin dependencias de pago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15184"/>
            <a:ext cx="3602736" cy="137160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676656" y="2752344"/>
            <a:ext cx="45720" cy="237744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41248" y="2715768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00" b="1" i="0" noProof="0" dirty="0">
                <a:solidFill>
                  <a:srgbClr val="E8EEFC"/>
                </a:solidFill>
                <a:latin typeface="Segoe UI"/>
              </a:rPr>
              <a:t>Pronóstico a 6 meses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044952"/>
            <a:ext cx="319125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Modelo global (</a:t>
            </a:r>
            <a:r>
              <a:rPr lang="es-CO" sz="1000" b="0" i="0" noProof="0" dirty="0" err="1">
                <a:solidFill>
                  <a:srgbClr val="93A6C4"/>
                </a:solidFill>
                <a:latin typeface="Segoe UI"/>
              </a:rPr>
              <a:t>gradient</a:t>
            </a: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 </a:t>
            </a:r>
            <a:r>
              <a:rPr lang="es-CO" sz="1000" b="0" i="0" noProof="0" dirty="0" err="1">
                <a:solidFill>
                  <a:srgbClr val="93A6C4"/>
                </a:solidFill>
                <a:latin typeface="Segoe UI"/>
              </a:rPr>
              <a:t>boosting</a:t>
            </a: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) sobre tasas por cada 100.000 habitantes, validado con </a:t>
            </a:r>
            <a:r>
              <a:rPr lang="es-CO" sz="1000" b="0" i="0" noProof="0" dirty="0" err="1">
                <a:solidFill>
                  <a:srgbClr val="93A6C4"/>
                </a:solidFill>
                <a:latin typeface="Segoe UI"/>
              </a:rPr>
              <a:t>backtesting</a:t>
            </a: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 temporal.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3108" y="2615184"/>
            <a:ext cx="3602736" cy="137160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4421124" y="2752344"/>
            <a:ext cx="45720" cy="237744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585716" y="2715768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00" b="1" i="0" noProof="0" dirty="0">
                <a:solidFill>
                  <a:srgbClr val="E8EEFC"/>
                </a:solidFill>
                <a:latin typeface="Segoe UI"/>
              </a:rPr>
              <a:t>Alertas de anomalías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5716" y="3044952"/>
            <a:ext cx="319125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Puntuación z robusta + </a:t>
            </a:r>
            <a:r>
              <a:rPr lang="es-CO" sz="1000" b="0" i="0" noProof="0" dirty="0" err="1">
                <a:solidFill>
                  <a:srgbClr val="93A6C4"/>
                </a:solidFill>
                <a:latin typeface="Segoe UI"/>
              </a:rPr>
              <a:t>IsolationForest</a:t>
            </a: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; cada municipio se compara con su propia historia.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6" y="2615184"/>
            <a:ext cx="3602736" cy="137160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Rounded Rectangle 19"/>
          <p:cNvSpPr/>
          <p:nvPr/>
        </p:nvSpPr>
        <p:spPr>
          <a:xfrm>
            <a:off x="8165592" y="2752344"/>
            <a:ext cx="45720" cy="237744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8330184" y="2715768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00" b="1" i="0" noProof="0" dirty="0">
                <a:solidFill>
                  <a:srgbClr val="E8EEFC"/>
                </a:solidFill>
                <a:latin typeface="Segoe UI"/>
              </a:rPr>
              <a:t>Simulador «¿y si…?»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0184" y="3044952"/>
            <a:ext cx="319125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Escenarios hipotéticos sobre el pronóstico; declara qué es supuesto del usuario y qué calcula el modelo.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114800"/>
            <a:ext cx="3602736" cy="137160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Rounded Rectangle 23"/>
          <p:cNvSpPr/>
          <p:nvPr/>
        </p:nvSpPr>
        <p:spPr>
          <a:xfrm>
            <a:off x="676656" y="425196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841248" y="4215384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00" b="1" i="0" noProof="0" dirty="0">
                <a:solidFill>
                  <a:srgbClr val="E8EEFC"/>
                </a:solidFill>
                <a:latin typeface="Segoe UI"/>
              </a:rPr>
              <a:t>Asistente ciudadano (RAG)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544568"/>
            <a:ext cx="319125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Agente con herramientas que responde solo con datos oficiales y cita cada fuente.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3108" y="4114800"/>
            <a:ext cx="3602736" cy="137160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8" name="Rounded Rectangle 27"/>
          <p:cNvSpPr/>
          <p:nvPr/>
        </p:nvSpPr>
        <p:spPr>
          <a:xfrm>
            <a:off x="4421124" y="425196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4585716" y="4215384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00" b="1" i="0" noProof="0" dirty="0">
                <a:solidFill>
                  <a:srgbClr val="E8EEFC"/>
                </a:solidFill>
                <a:latin typeface="Segoe UI"/>
              </a:rPr>
              <a:t>Informe municipal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85716" y="4544568"/>
            <a:ext cx="319125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La IA redacta; las cifras vienen de la base y quedan como etiquetas auditables.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37576" y="4114800"/>
            <a:ext cx="3602736" cy="137160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2" name="Rounded Rectangle 31"/>
          <p:cNvSpPr/>
          <p:nvPr/>
        </p:nvSpPr>
        <p:spPr>
          <a:xfrm>
            <a:off x="8165592" y="425196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8330184" y="4215384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00" b="1" i="0" noProof="0" dirty="0">
                <a:solidFill>
                  <a:srgbClr val="E8EEFC"/>
                </a:solidFill>
                <a:latin typeface="Segoe UI"/>
              </a:rPr>
              <a:t>Salud del modelo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0184" y="4544568"/>
            <a:ext cx="3191256" cy="841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Monitoreo continuo: frescura, deriva (PSI), cobertura poblacional y </a:t>
            </a:r>
            <a:r>
              <a:rPr lang="es-CO" sz="1000" b="0" i="0" noProof="0" dirty="0" err="1">
                <a:solidFill>
                  <a:srgbClr val="93A6C4"/>
                </a:solidFill>
                <a:latin typeface="Segoe UI"/>
              </a:rPr>
              <a:t>backtest</a:t>
            </a: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 a 12 meses.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742432"/>
            <a:ext cx="11091672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50" b="1" i="0" noProof="0" dirty="0">
                <a:solidFill>
                  <a:srgbClr val="7CC4FF"/>
                </a:solidFill>
                <a:latin typeface="Segoe UI"/>
              </a:rPr>
              <a:t>Guardarraíl </a:t>
            </a:r>
            <a:r>
              <a:rPr lang="es-CO" sz="1150" b="1" i="0" noProof="0" dirty="0" err="1">
                <a:solidFill>
                  <a:srgbClr val="7CC4FF"/>
                </a:solidFill>
                <a:latin typeface="Segoe UI"/>
              </a:rPr>
              <a:t>anti-alucinación</a:t>
            </a:r>
            <a:r>
              <a:rPr lang="es-CO" sz="1150" b="1" i="0" noProof="0" dirty="0">
                <a:solidFill>
                  <a:srgbClr val="7CC4FF"/>
                </a:solidFill>
                <a:latin typeface="Segoe UI"/>
              </a:rPr>
              <a:t>: </a:t>
            </a:r>
            <a:r>
              <a:rPr lang="es-CO" sz="1150" b="0" i="0" noProof="0" dirty="0">
                <a:solidFill>
                  <a:srgbClr val="93A6C4"/>
                </a:solidFill>
                <a:latin typeface="Segoe UI"/>
              </a:rPr>
              <a:t>el modelo de lenguaje nunca inventa cifras - solo redacta sobre lo que la base devuelve; si no hay respaldo, se abstiene (medido: 100 % de abstención correcta).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7CC4FF"/>
                </a:solidFill>
                <a:latin typeface="Segoe UI"/>
              </a:rPr>
              <a:t>04 / 08</a:t>
            </a:r>
            <a:r>
              <a:rPr lang="es-CO" sz="1100" b="0" i="0" noProof="0" dirty="0">
                <a:solidFill>
                  <a:srgbClr val="5E7191"/>
                </a:solidFill>
                <a:latin typeface="Segoe UI"/>
              </a:rPr>
              <a:t>   ·   SOLUCIÓN E IA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00" b="0" i="0" noProof="0" dirty="0">
                <a:solidFill>
                  <a:srgbClr val="5E7191"/>
                </a:solidFill>
                <a:latin typeface="Segoe UI"/>
              </a:rPr>
              <a:t>VigIA · Concurso Datos al Ecosistema 2026 · Reto Seguridad Ciudadana y Justicia · Nivel Avanzado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700" b="1" i="0" noProof="0" dirty="0">
                <a:solidFill>
                  <a:srgbClr val="E8EEFC"/>
                </a:solidFill>
                <a:latin typeface="Segoe UI"/>
              </a:rPr>
              <a:t>Resultados medidos, no prometidos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300" b="0" i="0" noProof="0" dirty="0">
                <a:solidFill>
                  <a:srgbClr val="93A6C4"/>
                </a:solidFill>
                <a:latin typeface="Segoe UI"/>
              </a:rPr>
              <a:t>Resultados y demo</a:t>
            </a:r>
          </a:p>
        </p:txBody>
      </p:sp>
      <p:pic>
        <p:nvPicPr>
          <p:cNvPr id="5" name="Picture 4" descr="panorama_top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572768"/>
            <a:ext cx="5989320" cy="3669811"/>
          </a:xfrm>
          <a:prstGeom prst="rect">
            <a:avLst/>
          </a:prstGeom>
          <a:ln w="12700">
            <a:solidFill>
              <a:srgbClr val="283A57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48640" y="5303520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s-CO" sz="950" b="0" i="0" noProof="0" dirty="0">
                <a:solidFill>
                  <a:srgbClr val="5E7191"/>
                </a:solidFill>
                <a:latin typeface="Segoe UI"/>
              </a:rPr>
              <a:t>Tablero - demo en vivo/vídeo en el repositorio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572768"/>
            <a:ext cx="4873752" cy="93268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894576" y="1719072"/>
            <a:ext cx="45720" cy="640080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7059168" y="1682496"/>
            <a:ext cx="4462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500" b="1" i="0" noProof="0" dirty="0">
                <a:solidFill>
                  <a:srgbClr val="E8EEFC"/>
                </a:solidFill>
                <a:latin typeface="Segoe UI"/>
              </a:rPr>
              <a:t>+16,1 %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139696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1" i="0" noProof="0" dirty="0">
                <a:solidFill>
                  <a:srgbClr val="93A6C4"/>
                </a:solidFill>
                <a:latin typeface="Segoe UI"/>
              </a:rPr>
              <a:t>MEJOR QUE LA LÍNEA BASE AL PRONOSTICAR 6 MESES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2249424"/>
            <a:ext cx="4462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50" b="0" i="0" noProof="0" dirty="0">
                <a:solidFill>
                  <a:srgbClr val="5E7191"/>
                </a:solidFill>
                <a:latin typeface="Segoe UI"/>
              </a:rPr>
              <a:t>la persistencia; +2,0 % a un mes (error MAE)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2624328"/>
            <a:ext cx="4873752" cy="93268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6894576" y="2770632"/>
            <a:ext cx="45720" cy="640080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059168" y="2734056"/>
            <a:ext cx="4462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500" b="1" i="0" noProof="0" dirty="0">
                <a:solidFill>
                  <a:srgbClr val="E8EEFC"/>
                </a:solidFill>
                <a:latin typeface="Segoe UI"/>
              </a:rPr>
              <a:t>11 / 11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59168" y="3191256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1" i="0" noProof="0" dirty="0">
                <a:solidFill>
                  <a:srgbClr val="93A6C4"/>
                </a:solidFill>
                <a:latin typeface="Segoe UI"/>
              </a:rPr>
              <a:t>EVENTOS DOCUMENTADOS DETECTADOS POR LAS ALERTAS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9168" y="3300984"/>
            <a:ext cx="4462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50" b="0" i="0" noProof="0" dirty="0">
                <a:solidFill>
                  <a:srgbClr val="5E7191"/>
                </a:solidFill>
                <a:latin typeface="Segoe UI"/>
              </a:rPr>
              <a:t>validación contra catálogo público de picos reales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3675888"/>
            <a:ext cx="4873752" cy="93268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Rounded Rectangle 17"/>
          <p:cNvSpPr/>
          <p:nvPr/>
        </p:nvSpPr>
        <p:spPr>
          <a:xfrm>
            <a:off x="6894576" y="3822192"/>
            <a:ext cx="45720" cy="640080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7059168" y="3785616"/>
            <a:ext cx="4462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500" b="1" i="0" noProof="0" dirty="0">
                <a:solidFill>
                  <a:srgbClr val="E8EEFC"/>
                </a:solidFill>
                <a:latin typeface="Segoe UI"/>
              </a:rPr>
              <a:t>100 %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4242816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1" i="0" noProof="0" dirty="0">
                <a:solidFill>
                  <a:srgbClr val="93A6C4"/>
                </a:solidFill>
                <a:latin typeface="Segoe UI"/>
              </a:rPr>
              <a:t>EXACTITUD, ABSTENCIÓN Y CITACIÓN DEL ASISTENTE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4352544"/>
            <a:ext cx="4462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50" b="0" i="0" noProof="0" dirty="0">
                <a:solidFill>
                  <a:srgbClr val="5E7191"/>
                </a:solidFill>
                <a:latin typeface="Segoe UI"/>
              </a:rPr>
              <a:t>24 preguntas de referencia derivadas de los datos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0" y="4727448"/>
            <a:ext cx="4873752" cy="932688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Rounded Rectangle 22"/>
          <p:cNvSpPr/>
          <p:nvPr/>
        </p:nvSpPr>
        <p:spPr>
          <a:xfrm>
            <a:off x="6894576" y="4873752"/>
            <a:ext cx="45720" cy="640080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7059168" y="4837176"/>
            <a:ext cx="446227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500" b="1" i="0" noProof="0" dirty="0">
                <a:solidFill>
                  <a:srgbClr val="E8EEFC"/>
                </a:solidFill>
                <a:latin typeface="Segoe UI"/>
              </a:rPr>
              <a:t>8,49 %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9168" y="5294376"/>
            <a:ext cx="4462272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950" b="1" i="0" noProof="0" dirty="0">
                <a:solidFill>
                  <a:srgbClr val="93A6C4"/>
                </a:solidFill>
                <a:latin typeface="Segoe UI"/>
              </a:rPr>
              <a:t>TASA NACIONAL DE JUDICIALIZACIÓN REVELADA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9168" y="5404104"/>
            <a:ext cx="446227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50" b="0" i="0" noProof="0" dirty="0">
                <a:solidFill>
                  <a:srgbClr val="5E7191"/>
                </a:solidFill>
                <a:latin typeface="Segoe UI"/>
              </a:rPr>
              <a:t>e injuria/calumnia 0,34 % vs salud pública 23,74 %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669280"/>
            <a:ext cx="11091672" cy="658368"/>
          </a:xfrm>
          <a:prstGeom prst="roundRect">
            <a:avLst>
              <a:gd name="adj" fmla="val 5500"/>
            </a:avLst>
          </a:prstGeom>
          <a:solidFill>
            <a:srgbClr val="0F1A2E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777240" y="5788152"/>
            <a:ext cx="1069848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50" b="1" i="0" noProof="0" dirty="0">
                <a:solidFill>
                  <a:srgbClr val="6FCF97"/>
                </a:solidFill>
                <a:latin typeface="Segoe UI"/>
              </a:rPr>
              <a:t>Todo verificable: </a:t>
            </a:r>
            <a:r>
              <a:rPr lang="es-CO" sz="1150" b="0" i="0" noProof="0" dirty="0">
                <a:solidFill>
                  <a:srgbClr val="93A6C4"/>
                </a:solidFill>
                <a:latin typeface="Segoe UI"/>
              </a:rPr>
              <a:t>estas cifras salen de reportes versionados en el repositorio (evaluación del modelo, validación de anomalías, evaluación del asistente)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7CC4FF"/>
                </a:solidFill>
                <a:latin typeface="Segoe UI"/>
              </a:rPr>
              <a:t>05 / 08</a:t>
            </a:r>
            <a:r>
              <a:rPr lang="es-CO" sz="1100" b="0" i="0" noProof="0" dirty="0">
                <a:solidFill>
                  <a:srgbClr val="5E7191"/>
                </a:solidFill>
                <a:latin typeface="Segoe UI"/>
              </a:rPr>
              <a:t>   ·   RESULTADOS /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00" b="0" i="0" noProof="0" dirty="0">
                <a:solidFill>
                  <a:srgbClr val="5E7191"/>
                </a:solidFill>
                <a:latin typeface="Segoe UI"/>
              </a:rPr>
              <a:t>VigIA · Concurso Datos al Ecosistema 2026 · Reto Seguridad Ciudadana y Justicia · Nivel Avanzado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700" b="1" i="0" noProof="0" dirty="0">
                <a:solidFill>
                  <a:srgbClr val="E8EEFC"/>
                </a:solidFill>
                <a:latin typeface="Segoe UI"/>
              </a:rPr>
              <a:t>Quién gana y qué mejora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300" b="0" i="0" noProof="0" dirty="0">
                <a:solidFill>
                  <a:srgbClr val="93A6C4"/>
                </a:solidFill>
                <a:latin typeface="Segoe UI"/>
              </a:rPr>
              <a:t>Impacto y sostenibilidad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11091672" cy="1051560"/>
          </a:xfrm>
          <a:prstGeom prst="roundRect">
            <a:avLst>
              <a:gd name="adj" fmla="val 5500"/>
            </a:avLst>
          </a:prstGeom>
          <a:solidFill>
            <a:srgbClr val="0F1A2E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77240" y="1700784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s-CO" sz="1500" b="1" i="0" noProof="0" dirty="0">
                <a:solidFill>
                  <a:srgbClr val="E8EEFC"/>
                </a:solidFill>
                <a:latin typeface="Segoe UI"/>
              </a:rPr>
              <a:t>Las secretarías de seguridad y comandos locales ganan un mapa mensual de prioridades </a:t>
            </a:r>
            <a:r>
              <a:rPr lang="es-CO" sz="1500" b="0" i="0" noProof="0" dirty="0">
                <a:solidFill>
                  <a:srgbClr val="93A6C4"/>
                </a:solidFill>
                <a:latin typeface="Segoe UI"/>
              </a:rPr>
              <a:t>(dónde, qué delito, cuánto esperar) </a:t>
            </a:r>
            <a:r>
              <a:rPr lang="es-CO" sz="1500" b="1" i="0" noProof="0" dirty="0">
                <a:solidFill>
                  <a:srgbClr val="E8EEFC"/>
                </a:solidFill>
                <a:latin typeface="Segoe UI"/>
              </a:rPr>
              <a:t>con evidencia auditable en vez de intuición.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3602736" cy="301752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Rounded Rectangle 7"/>
          <p:cNvSpPr/>
          <p:nvPr/>
        </p:nvSpPr>
        <p:spPr>
          <a:xfrm>
            <a:off x="676656" y="297180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841248" y="2935224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350" b="1" i="0" noProof="0" dirty="0">
                <a:solidFill>
                  <a:srgbClr val="E8EEFC"/>
                </a:solidFill>
                <a:latin typeface="Segoe UI"/>
              </a:rPr>
              <a:t>Beneficiarios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64408"/>
            <a:ext cx="3191256" cy="248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50" b="0" i="0" noProof="0" dirty="0">
                <a:solidFill>
                  <a:srgbClr val="93A6C4"/>
                </a:solidFill>
                <a:latin typeface="Segoe UI"/>
              </a:rPr>
              <a:t>· 1.126 municipios con la misma herramienta
· Entidades territoriales y Policía (focalización)
· Fiscalía (embudo por territorio y delito)
· Ciudadanía: tablero público + asistente con cuenta gratuita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3108" y="2834640"/>
            <a:ext cx="3602736" cy="301752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Rounded Rectangle 11"/>
          <p:cNvSpPr/>
          <p:nvPr/>
        </p:nvSpPr>
        <p:spPr>
          <a:xfrm>
            <a:off x="4421124" y="297180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585716" y="2935224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350" b="1" i="0" noProof="0" dirty="0">
                <a:solidFill>
                  <a:srgbClr val="E8EEFC"/>
                </a:solidFill>
                <a:latin typeface="Segoe UI"/>
              </a:rPr>
              <a:t>Decisiones que mejora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5716" y="3264408"/>
            <a:ext cx="3191256" cy="8440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50" b="0" i="0" noProof="0" dirty="0">
                <a:solidFill>
                  <a:srgbClr val="93A6C4"/>
                </a:solidFill>
                <a:latin typeface="Segoe UI"/>
              </a:rPr>
              <a:t>· Focalizar patrullaje y prevención donde la alerta es inusual - la evidencia internacional estima ~16 % de reducción en focalización (Braga, 2019)
· Anticipar demanda con el pronóstico
· Priorizar el rezago del embudo judicial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37576" y="2834640"/>
            <a:ext cx="3602736" cy="301752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Rounded Rectangle 15"/>
          <p:cNvSpPr/>
          <p:nvPr/>
        </p:nvSpPr>
        <p:spPr>
          <a:xfrm>
            <a:off x="8165592" y="297180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8330184" y="2935224"/>
            <a:ext cx="3191256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350" b="1" i="0" noProof="0" dirty="0">
                <a:solidFill>
                  <a:srgbClr val="E8EEFC"/>
                </a:solidFill>
                <a:latin typeface="Segoe UI"/>
              </a:rPr>
              <a:t>Sostenibilidad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4" y="3264408"/>
            <a:ext cx="3191256" cy="2487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50" b="0" i="0" noProof="0" dirty="0">
                <a:solidFill>
                  <a:srgbClr val="93A6C4"/>
                </a:solidFill>
                <a:latin typeface="Segoe UI"/>
              </a:rPr>
              <a:t>· 100 % datos abiertos que se actualizan solos
· Reconstrucción con un comando · ~20 GB, sin GPU
· Sin dependencias de pago (</a:t>
            </a:r>
            <a:r>
              <a:rPr lang="es-CO" sz="1050" b="0" i="0" noProof="0" dirty="0" err="1">
                <a:solidFill>
                  <a:srgbClr val="93A6C4"/>
                </a:solidFill>
                <a:latin typeface="Segoe UI"/>
              </a:rPr>
              <a:t>LLM</a:t>
            </a:r>
            <a:r>
              <a:rPr lang="es-CO" sz="1050" b="0" i="0" noProof="0" dirty="0">
                <a:solidFill>
                  <a:srgbClr val="93A6C4"/>
                </a:solidFill>
                <a:latin typeface="Segoe UI"/>
              </a:rPr>
              <a:t> local conmutable)
· Código MIT · datos y derivados CC </a:t>
            </a:r>
            <a:r>
              <a:rPr lang="es-CO" sz="1050" b="0" i="0" noProof="0" dirty="0" err="1">
                <a:solidFill>
                  <a:srgbClr val="93A6C4"/>
                </a:solidFill>
                <a:latin typeface="Segoe UI"/>
              </a:rPr>
              <a:t>BY</a:t>
            </a:r>
            <a:r>
              <a:rPr lang="es-CO" sz="1050" b="0" i="0" noProof="0" dirty="0">
                <a:solidFill>
                  <a:srgbClr val="93A6C4"/>
                </a:solidFill>
                <a:latin typeface="Segoe UI"/>
              </a:rPr>
              <a:t>-SA 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7CC4FF"/>
                </a:solidFill>
                <a:latin typeface="Segoe UI"/>
              </a:rPr>
              <a:t>06 / 08</a:t>
            </a:r>
            <a:r>
              <a:rPr lang="es-CO" sz="1100" b="0" i="0" noProof="0" dirty="0">
                <a:solidFill>
                  <a:srgbClr val="5E7191"/>
                </a:solidFill>
                <a:latin typeface="Segoe UI"/>
              </a:rPr>
              <a:t>   ·   IMPACTO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00" b="0" i="0" noProof="0" dirty="0">
                <a:solidFill>
                  <a:srgbClr val="5E7191"/>
                </a:solidFill>
                <a:latin typeface="Segoe UI"/>
              </a:rPr>
              <a:t>VigIA · Concurso Datos al Ecosistema 2026 · Reto Seguridad Ciudadana y Justicia · Nivel Avanzado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2700" b="1" i="0" noProof="0" dirty="0">
                <a:solidFill>
                  <a:srgbClr val="E8EEFC"/>
                </a:solidFill>
                <a:latin typeface="Segoe UI"/>
              </a:rPr>
              <a:t>Todo publicado, todo reproducible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70432"/>
            <a:ext cx="110916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300" b="0" i="0" noProof="0" dirty="0">
                <a:solidFill>
                  <a:srgbClr val="93A6C4"/>
                </a:solidFill>
                <a:latin typeface="Segoe UI"/>
              </a:rPr>
              <a:t>Repositorio y validación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▸ </a:t>
            </a:r>
            <a:r>
              <a:rPr lang="es-CO" sz="1250" b="1" i="0" noProof="0" dirty="0" err="1">
                <a:solidFill>
                  <a:srgbClr val="E8EEFC"/>
                </a:solidFill>
                <a:latin typeface="Segoe UI"/>
              </a:rPr>
              <a:t>README</a:t>
            </a: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 con recorrido del evaluador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requisitos, despliegue con un comando y guía de navegación paso a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13432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▸ Integración continua en verde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4 trabajos: pruebas Python (139), </a:t>
            </a:r>
            <a:r>
              <a:rPr lang="es-CO" sz="1000" b="0" i="0" noProof="0" dirty="0" err="1">
                <a:solidFill>
                  <a:srgbClr val="93A6C4"/>
                </a:solidFill>
                <a:latin typeface="Segoe UI"/>
              </a:rPr>
              <a:t>Go</a:t>
            </a: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, </a:t>
            </a:r>
            <a:r>
              <a:rPr lang="es-CO" sz="1000" b="0" i="0" noProof="0" dirty="0" err="1">
                <a:solidFill>
                  <a:srgbClr val="93A6C4"/>
                </a:solidFill>
                <a:latin typeface="Segoe UI"/>
              </a:rPr>
              <a:t>React</a:t>
            </a: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 y construcción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26664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▸ Reportes versionados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las cifras de esta sustentación (modelo, anomalías, asistente) auditables sin ejecutar 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39896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▸ Metodología y documentación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CRISP-ML(Q) con bitácora de 13 iteraciones, diccionario de datos, arquitectura, manual de usuario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53128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▸ Demo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video de 1,5 min + capturas + notebooks reproducibles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▸ Publicación en datos.gov.co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uso registrado en la sección de usos (USOS) del portal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600200"/>
            <a:ext cx="3749039" cy="420624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pic>
        <p:nvPicPr>
          <p:cNvPr id="12" name="Picture 11" descr="qr_re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1920240"/>
            <a:ext cx="2514600" cy="2514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001000" y="4572000"/>
            <a:ext cx="34747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s-CO" sz="1300" b="1" i="0" noProof="0" dirty="0">
                <a:solidFill>
                  <a:srgbClr val="7CC4FF"/>
                </a:solidFill>
                <a:latin typeface="Segoe UI"/>
              </a:rPr>
              <a:t>github.com/</a:t>
            </a:r>
            <a:r>
              <a:rPr lang="es-CO" sz="1300" b="1" i="0" noProof="0" dirty="0" err="1">
                <a:solidFill>
                  <a:srgbClr val="7CC4FF"/>
                </a:solidFill>
                <a:latin typeface="Segoe UI"/>
              </a:rPr>
              <a:t>diegoa-rodriguezc</a:t>
            </a:r>
            <a:r>
              <a:rPr lang="es-CO" sz="1300" b="1" i="0" noProof="0" dirty="0">
                <a:solidFill>
                  <a:srgbClr val="7CC4FF"/>
                </a:solidFill>
                <a:latin typeface="Segoe UI"/>
              </a:rPr>
              <a:t>/</a:t>
            </a:r>
            <a:r>
              <a:rPr lang="es-CO" sz="1300" b="1" i="0" noProof="0" dirty="0" err="1">
                <a:solidFill>
                  <a:srgbClr val="7CC4FF"/>
                </a:solidFill>
                <a:latin typeface="Segoe UI"/>
              </a:rPr>
              <a:t>vigia</a:t>
            </a:r>
            <a:endParaRPr lang="es-CO" sz="1300" b="1" i="0" noProof="0" dirty="0">
              <a:solidFill>
                <a:srgbClr val="7CC4FF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01000" y="4956048"/>
            <a:ext cx="34747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Código MIT · datos y derivados CC </a:t>
            </a:r>
            <a:r>
              <a:rPr lang="es-CO" sz="1000" b="0" i="0" noProof="0" dirty="0" err="1">
                <a:solidFill>
                  <a:srgbClr val="93A6C4"/>
                </a:solidFill>
                <a:latin typeface="Segoe UI"/>
              </a:rPr>
              <a:t>BY</a:t>
            </a:r>
            <a:r>
              <a:rPr lang="es-CO" sz="1000" b="0" i="0" noProof="0" dirty="0">
                <a:solidFill>
                  <a:srgbClr val="93A6C4"/>
                </a:solidFill>
                <a:latin typeface="Segoe UI"/>
              </a:rPr>
              <a:t>-SA 4.0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7CC4FF"/>
                </a:solidFill>
                <a:latin typeface="Segoe UI"/>
              </a:rPr>
              <a:t>07 / 08</a:t>
            </a:r>
            <a:r>
              <a:rPr lang="es-CO" sz="1100" b="0" i="0" noProof="0" dirty="0">
                <a:solidFill>
                  <a:srgbClr val="5E7191"/>
                </a:solidFill>
                <a:latin typeface="Segoe UI"/>
              </a:rPr>
              <a:t>   ·   REPOSITORIO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00" b="0" i="0" noProof="0" dirty="0">
                <a:solidFill>
                  <a:srgbClr val="5E7191"/>
                </a:solidFill>
                <a:latin typeface="Segoe UI"/>
              </a:rPr>
              <a:t>VigIA · Concurso Datos al Ecosistema 2026 · Reto Seguridad Ciudadana y Justicia · Nivel Avanzado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s-CO" sz="2100" b="0" i="0" noProof="0" dirty="0">
                <a:solidFill>
                  <a:srgbClr val="93A6C4"/>
                </a:solidFill>
                <a:latin typeface="Segoe UI"/>
              </a:rPr>
              <a:t>«¿Resuelve algo concreto con datos abiertos e IA?»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57400"/>
            <a:ext cx="9966960" cy="101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CO" sz="3000" b="1" i="0" noProof="0" dirty="0">
                <a:solidFill>
                  <a:srgbClr val="7CC4FF"/>
                </a:solidFill>
                <a:latin typeface="Segoe UI"/>
              </a:rPr>
              <a:t>Sí: </a:t>
            </a:r>
            <a:r>
              <a:rPr lang="es-CO" sz="3000" b="1" i="0" noProof="0" dirty="0">
                <a:solidFill>
                  <a:srgbClr val="E8EEFC"/>
                </a:solidFill>
                <a:latin typeface="Segoe UI"/>
              </a:rPr>
              <a:t>dónde actuar, qué esperar y cómo responder -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s-CO" sz="3000" b="1" i="0" noProof="0" dirty="0">
                <a:solidFill>
                  <a:srgbClr val="E8EEFC"/>
                </a:solidFill>
                <a:latin typeface="Segoe UI"/>
              </a:rPr>
              <a:t>con evidencia auditable, en los 1.126 municipios.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794760"/>
            <a:ext cx="3200400" cy="141732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Rounded Rectangle 5"/>
          <p:cNvSpPr/>
          <p:nvPr/>
        </p:nvSpPr>
        <p:spPr>
          <a:xfrm>
            <a:off x="1225296" y="393192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389888" y="3895344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Honestidad metodológica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888" y="4224528"/>
            <a:ext cx="278892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50" b="0" i="0" noProof="0" dirty="0">
                <a:solidFill>
                  <a:srgbClr val="93A6C4"/>
                </a:solidFill>
                <a:latin typeface="Segoe UI"/>
              </a:rPr>
              <a:t>cada límite del dato y del modelo está declarado y medido, no escondido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794760"/>
            <a:ext cx="3200400" cy="141732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4608576" y="393192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F2C9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773168" y="3895344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IA que no inventa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4224528"/>
            <a:ext cx="278892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50" b="0" i="0" noProof="0" dirty="0">
                <a:solidFill>
                  <a:srgbClr val="93A6C4"/>
                </a:solidFill>
                <a:latin typeface="Segoe UI"/>
              </a:rPr>
              <a:t>las cifras siempre vienen de los datos; la abstención está medida al 100 %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3794760"/>
            <a:ext cx="3200400" cy="1417320"/>
          </a:xfrm>
          <a:prstGeom prst="roundRect">
            <a:avLst>
              <a:gd name="adj" fmla="val 5500"/>
            </a:avLst>
          </a:prstGeom>
          <a:solidFill>
            <a:srgbClr val="121D31"/>
          </a:solidFill>
          <a:ln w="12700">
            <a:solidFill>
              <a:srgbClr val="283A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Rounded Rectangle 13"/>
          <p:cNvSpPr/>
          <p:nvPr/>
        </p:nvSpPr>
        <p:spPr>
          <a:xfrm>
            <a:off x="7991856" y="3931920"/>
            <a:ext cx="45720" cy="237744"/>
          </a:xfrm>
          <a:prstGeom prst="roundRect">
            <a:avLst>
              <a:gd name="adj" fmla="val 50000"/>
            </a:avLst>
          </a:prstGeom>
          <a:solidFill>
            <a:srgbClr val="6FC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8156448" y="3895344"/>
            <a:ext cx="278892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250" b="1" i="0" noProof="0" dirty="0">
                <a:solidFill>
                  <a:srgbClr val="E8EEFC"/>
                </a:solidFill>
                <a:latin typeface="Segoe UI"/>
              </a:rPr>
              <a:t>Reproducible de punta a punta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224528"/>
            <a:ext cx="278892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lang="es-CO" sz="1050" b="0" i="0" noProof="0" dirty="0">
                <a:solidFill>
                  <a:srgbClr val="93A6C4"/>
                </a:solidFill>
                <a:latin typeface="Segoe UI"/>
              </a:rPr>
              <a:t>un comando, datos 100 % abiertos, reportes versionados y pruebas en verde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577840"/>
            <a:ext cx="996696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s-CO" sz="1500" b="0" i="0" noProof="0" dirty="0">
                <a:solidFill>
                  <a:srgbClr val="93A6C4"/>
                </a:solidFill>
                <a:latin typeface="Segoe UI"/>
              </a:rPr>
              <a:t>Gracias - </a:t>
            </a:r>
            <a:r>
              <a:rPr lang="es-CO" sz="1500" b="1" i="0" noProof="0" dirty="0">
                <a:solidFill>
                  <a:srgbClr val="7CC4FF"/>
                </a:solidFill>
                <a:latin typeface="Segoe UI"/>
              </a:rPr>
              <a:t>VigIA</a:t>
            </a:r>
            <a:r>
              <a:rPr lang="es-CO" sz="1200" b="0" i="0" noProof="0" dirty="0">
                <a:solidFill>
                  <a:srgbClr val="5E7191"/>
                </a:solidFill>
                <a:latin typeface="Segoe UI"/>
              </a:rPr>
              <a:t>  - github.com/</a:t>
            </a:r>
            <a:r>
              <a:rPr lang="es-CO" sz="1200" b="0" i="0" noProof="0" dirty="0" err="1">
                <a:solidFill>
                  <a:srgbClr val="5E7191"/>
                </a:solidFill>
                <a:latin typeface="Segoe UI"/>
              </a:rPr>
              <a:t>diegoa-rodriguezc</a:t>
            </a:r>
            <a:r>
              <a:rPr lang="es-CO" sz="1200" b="0" i="0" noProof="0" dirty="0">
                <a:solidFill>
                  <a:srgbClr val="5E7191"/>
                </a:solidFill>
                <a:latin typeface="Segoe UI"/>
              </a:rPr>
              <a:t>/</a:t>
            </a:r>
            <a:r>
              <a:rPr lang="es-CO" sz="1200" b="0" i="0" noProof="0" dirty="0" err="1">
                <a:solidFill>
                  <a:srgbClr val="5E7191"/>
                </a:solidFill>
                <a:latin typeface="Segoe UI"/>
              </a:rPr>
              <a:t>vigia</a:t>
            </a:r>
            <a:endParaRPr lang="es-CO" sz="1200" b="0" i="0" noProof="0" dirty="0">
              <a:solidFill>
                <a:srgbClr val="5E7191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1100" b="1" i="0" noProof="0" dirty="0">
                <a:solidFill>
                  <a:srgbClr val="7CC4FF"/>
                </a:solidFill>
                <a:latin typeface="Segoe UI"/>
              </a:rPr>
              <a:t>08 / 08</a:t>
            </a:r>
            <a:r>
              <a:rPr lang="es-CO" sz="1100" b="0" i="0" noProof="0" dirty="0">
                <a:solidFill>
                  <a:srgbClr val="5E7191"/>
                </a:solidFill>
                <a:latin typeface="Segoe UI"/>
              </a:rPr>
              <a:t>   ·   CIERRE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lang="es-CO" sz="800" b="0" i="0" noProof="0" dirty="0">
                <a:solidFill>
                  <a:srgbClr val="5E7191"/>
                </a:solidFill>
                <a:latin typeface="Segoe UI"/>
              </a:rPr>
              <a:t>VigIA · Concurso Datos al Ecosistema 2026 · Reto Seguridad Ciudadana y Justicia · Nivel Avanzado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1300</Words>
  <Application>Microsoft Office PowerPoint</Application>
  <PresentationFormat>Panorámica</PresentationFormat>
  <Paragraphs>148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VigIA — Sustentación · Datos al Ecosistema 2026</dc:title>
  <dc:subject/>
  <dc:creator>Equipo VigIA</dc:creator>
  <cp:keywords/>
  <dc:description>generated using python-pptx</dc:description>
  <cp:lastModifiedBy>Diego Alberto Rodriguez Cruz</cp:lastModifiedBy>
  <cp:revision>5</cp:revision>
  <dcterms:created xsi:type="dcterms:W3CDTF">2013-01-27T09:14:16Z</dcterms:created>
  <dcterms:modified xsi:type="dcterms:W3CDTF">2026-07-12T06:02:16Z</dcterms:modified>
  <cp:category/>
</cp:coreProperties>
</file>